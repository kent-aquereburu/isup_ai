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9" r:id="rId5"/>
    <p:sldId id="263" r:id="rId6"/>
    <p:sldId id="267" r:id="rId7"/>
    <p:sldId id="268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02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977"/>
    <p:restoredTop sz="97036"/>
  </p:normalViewPr>
  <p:slideViewPr>
    <p:cSldViewPr snapToGrid="0">
      <p:cViewPr varScale="1">
        <p:scale>
          <a:sx n="110" d="100"/>
          <a:sy n="110" d="100"/>
        </p:scale>
        <p:origin x="184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1FD45C-D8E3-AA6D-3586-48CE799064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33ADAF4-76A7-D334-42AC-083B45C96F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912000-EC03-5F85-107A-24C0CCD63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C7862-EDF3-CE4B-A766-FF712042076E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FC6689-2C62-14AD-C6A4-DA7BD0E4B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CFCE63B-6245-96BD-DDF0-D9DCFF96D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D240-A895-F64C-BADC-F0507E111CB2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1277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C60AEB-FDC2-695A-BCC9-43291996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95885D-A39F-9289-69B0-B88D04807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C974A8A-384C-71B2-F421-33DB1A849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C7862-EDF3-CE4B-A766-FF712042076E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01E713-8239-6B77-B8E0-E4AA895F0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6EA751-0627-20E8-95FF-76B78E45D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D240-A895-F64C-BADC-F0507E111CB2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7610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0D053D-F313-0C98-5908-C657B1924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C0F919D-7701-FA54-DB06-6E43DB088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A97B4A-C85E-D19A-461B-F2B041759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C7862-EDF3-CE4B-A766-FF712042076E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2D30156-2908-2F73-0659-DCF1B1C20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9C4221-84FF-92B5-4242-72AA10CD3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D240-A895-F64C-BADC-F0507E111CB2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8441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2A4EF8-BFF9-B889-100A-C1AC9E78A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D32457-FA72-BDFB-0092-AB37428086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016CCBF-CB5D-8ABB-737C-CE3CA11CA0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B3C432D-8F69-2D45-54A4-B48A9A194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C7862-EDF3-CE4B-A766-FF712042076E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D3626A5-3366-9B21-FB4A-E8E5B80A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EF0A4C0-B5E6-9FA1-52AF-9F5C25975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D240-A895-F64C-BADC-F0507E111CB2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915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0AABD3-A4E3-B205-723B-64BD4B16F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67207DD-263E-6872-8421-5B9BD6561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462E364-128F-277C-0FDF-2103FD9124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27E2BAA-8F9F-7987-5429-A882D6449C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5D35B40-9B96-9DC4-2571-CD0B2D2008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71E53F8-50A9-B63B-574A-6228A7ECD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C7862-EDF3-CE4B-A766-FF712042076E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0EE73E0-926E-FEFF-D703-6BA2A5A55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CAA7404-4B00-DE6A-7820-E721CED79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D240-A895-F64C-BADC-F0507E111CB2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6468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B3ADE3-C0F5-15A8-D926-C3F907877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4D003A7-73D7-75A0-4D92-37654D8DA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C7862-EDF3-CE4B-A766-FF712042076E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736FA98-0D21-0B6A-4625-650F70EF6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6B8A98E-3EC8-DEF5-DA97-37BAC2741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D240-A895-F64C-BADC-F0507E111CB2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2400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9A61F30-7465-7261-A62E-B31437EE5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C7862-EDF3-CE4B-A766-FF712042076E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81B3C70-A0FE-FB2D-F197-D22ABAA70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ABBD641-2E56-9A7E-DA5C-3973AC0D7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D240-A895-F64C-BADC-F0507E111CB2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4863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2D199E-30E6-1872-BCB2-35F1D21C8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CD9C603-DCC6-BC52-2BD9-5591C4110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C615F1E-4911-6B2A-91D3-B2B98B01E8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95CED37-0C14-6349-7C5C-A2FA57188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C7862-EDF3-CE4B-A766-FF712042076E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BAB644A-415E-FBEA-5A09-35B24EA66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3AB5DCF-A0DD-A954-232A-63CCD75BF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D240-A895-F64C-BADC-F0507E111CB2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1260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318609-2370-1B17-CEBB-A639CF11F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F46C9E2-5C41-7CC2-22CB-4ACD279EB0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C71B63A-3C6C-2A8F-798A-15B88B9426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CBD2393-D4A5-3163-7A84-434474BAC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C7862-EDF3-CE4B-A766-FF712042076E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14844C8-12E3-D381-FE82-CACDB6041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7C1825C-CB4B-0F3B-E693-DC96733B8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D240-A895-F64C-BADC-F0507E111CB2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3399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596707-7BD6-F080-E193-ACD821C5B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89574DB-3FFD-7144-11B3-8350538ABC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D892E19-35B6-2A1B-4420-495B13E02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C7862-EDF3-CE4B-A766-FF712042076E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8001E0-8DD1-929F-3F1E-859AE0D91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FA13A5A-A40A-2D4A-0E4D-1EE22A2A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D240-A895-F64C-BADC-F0507E111CB2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1843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D4B08A3-1A41-1045-BBD2-32BCCCEF7A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824BD9C-24D1-74CC-C3E0-18ACBC109F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1224E36-CE31-F1FB-E5F9-16E675D89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C7862-EDF3-CE4B-A766-FF712042076E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44AC87E-369A-3D9E-15D5-0F103DEDF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61C0730-D186-8764-1BF7-362863CC3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D240-A895-F64C-BADC-F0507E111CB2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15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70CF70B-102E-E3A3-8009-C722D8231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F11C445-C386-8EC5-F8FF-576EA2648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E8F061-06BD-62A8-4D04-BB284CEF4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DC7862-EDF3-CE4B-A766-FF712042076E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F87CCF-46EA-D096-84B7-5D6264D876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7ABE7D9-1AC3-C3A1-49FC-04883724CD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E0D240-A895-F64C-BADC-F0507E111CB2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979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docling-project/docling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2E90984-EA25-0402-D02B-97A786A4F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0261" y="1803400"/>
            <a:ext cx="10178797" cy="1931885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rgbClr val="FF0000"/>
                </a:solidFill>
              </a:rPr>
              <a:t>L’IA </a:t>
            </a:r>
            <a:r>
              <a:rPr dirty="0">
                <a:solidFill>
                  <a:srgbClr val="FF0000"/>
                </a:solidFill>
              </a:rPr>
              <a:t>pour </a:t>
            </a:r>
            <a:r>
              <a:rPr dirty="0" err="1">
                <a:solidFill>
                  <a:srgbClr val="FF0000"/>
                </a:solidFill>
              </a:rPr>
              <a:t>analyser</a:t>
            </a:r>
            <a:r>
              <a:rPr dirty="0">
                <a:solidFill>
                  <a:srgbClr val="FF0000"/>
                </a:solidFill>
              </a:rPr>
              <a:t> les données non </a:t>
            </a:r>
            <a:r>
              <a:rPr dirty="0" err="1">
                <a:solidFill>
                  <a:srgbClr val="FF0000"/>
                </a:solidFill>
              </a:rPr>
              <a:t>structurées</a:t>
            </a:r>
            <a:r>
              <a:rPr lang="fr-FR" dirty="0">
                <a:solidFill>
                  <a:srgbClr val="FF0000"/>
                </a:solidFill>
              </a:rPr>
              <a:t> à l’ère de l’IA générative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03AD251-B6DD-BE00-3825-7B0A280A9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261" y="4247331"/>
            <a:ext cx="9144000" cy="1655762"/>
          </a:xfrm>
        </p:spPr>
        <p:txBody>
          <a:bodyPr>
            <a:normAutofit/>
          </a:bodyPr>
          <a:lstStyle/>
          <a:p>
            <a:endParaRPr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80DB713-2FE5-5930-1129-452CA9EDD69F}"/>
              </a:ext>
            </a:extLst>
          </p:cNvPr>
          <p:cNvSpPr txBox="1"/>
          <p:nvPr/>
        </p:nvSpPr>
        <p:spPr>
          <a:xfrm>
            <a:off x="551151" y="645023"/>
            <a:ext cx="7320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ISUP</a:t>
            </a:r>
          </a:p>
        </p:txBody>
      </p:sp>
    </p:spTree>
    <p:extLst>
      <p:ext uri="{BB962C8B-B14F-4D97-AF65-F5344CB8AC3E}">
        <p14:creationId xmlns:p14="http://schemas.microsoft.com/office/powerpoint/2010/main" val="3060575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llipse 22">
            <a:extLst>
              <a:ext uri="{FF2B5EF4-FFF2-40B4-BE49-F238E27FC236}">
                <a16:creationId xmlns:a16="http://schemas.microsoft.com/office/drawing/2014/main" id="{4F2940DC-23A5-513E-F29F-217CC2B410DD}"/>
              </a:ext>
            </a:extLst>
          </p:cNvPr>
          <p:cNvSpPr/>
          <p:nvPr/>
        </p:nvSpPr>
        <p:spPr>
          <a:xfrm>
            <a:off x="2480769" y="1565290"/>
            <a:ext cx="1835048" cy="1797115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B461FF3-4689-C2EF-20FF-A8C3894F565A}"/>
              </a:ext>
            </a:extLst>
          </p:cNvPr>
          <p:cNvSpPr txBox="1"/>
          <p:nvPr/>
        </p:nvSpPr>
        <p:spPr>
          <a:xfrm>
            <a:off x="551151" y="645023"/>
            <a:ext cx="7320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 err="1">
                <a:solidFill>
                  <a:srgbClr val="C00000"/>
                </a:solidFill>
              </a:rPr>
              <a:t>Présentation</a:t>
            </a:r>
            <a:endParaRPr lang="en-GB" sz="3600" b="1" dirty="0">
              <a:solidFill>
                <a:srgbClr val="C00000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BFFDC27-23A2-A26C-C4AE-6B86F5089AEC}"/>
              </a:ext>
            </a:extLst>
          </p:cNvPr>
          <p:cNvSpPr txBox="1"/>
          <p:nvPr/>
        </p:nvSpPr>
        <p:spPr>
          <a:xfrm>
            <a:off x="2288511" y="3531273"/>
            <a:ext cx="221956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Kent </a:t>
            </a:r>
            <a:r>
              <a:rPr lang="en-GB" b="1" dirty="0" err="1"/>
              <a:t>Aquereburu</a:t>
            </a:r>
            <a:endParaRPr lang="en-GB" b="1" dirty="0"/>
          </a:p>
          <a:p>
            <a:pPr algn="ctr"/>
            <a:endParaRPr lang="en-GB" sz="1600" dirty="0"/>
          </a:p>
          <a:p>
            <a:pPr algn="ctr"/>
            <a:endParaRPr lang="en-GB" sz="16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0F76A3A-0C85-8C09-363F-1A8956D22E6F}"/>
              </a:ext>
            </a:extLst>
          </p:cNvPr>
          <p:cNvSpPr txBox="1"/>
          <p:nvPr/>
        </p:nvSpPr>
        <p:spPr>
          <a:xfrm>
            <a:off x="6761384" y="3443643"/>
            <a:ext cx="259978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Yolan Honoré </a:t>
            </a:r>
            <a:r>
              <a:rPr lang="en-GB" b="1" dirty="0" err="1"/>
              <a:t>Rougé</a:t>
            </a:r>
            <a:endParaRPr lang="en-GB" b="1" dirty="0"/>
          </a:p>
          <a:p>
            <a:pPr algn="ctr"/>
            <a:endParaRPr lang="en-GB" sz="1600" dirty="0"/>
          </a:p>
          <a:p>
            <a:pPr algn="ctr"/>
            <a:endParaRPr lang="en-GB" sz="1600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055958C2-BCFC-8313-64A3-397B1BADD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448" y="1631885"/>
            <a:ext cx="1835048" cy="173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470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5FE57-1805-7A27-3D6C-B484A8EAB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ZoneTexte 12">
            <a:extLst>
              <a:ext uri="{FF2B5EF4-FFF2-40B4-BE49-F238E27FC236}">
                <a16:creationId xmlns:a16="http://schemas.microsoft.com/office/drawing/2014/main" id="{1C32E8E6-C072-34C4-5087-50D9DCE1F421}"/>
              </a:ext>
            </a:extLst>
          </p:cNvPr>
          <p:cNvSpPr txBox="1"/>
          <p:nvPr/>
        </p:nvSpPr>
        <p:spPr>
          <a:xfrm>
            <a:off x="551151" y="645023"/>
            <a:ext cx="7320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Données non </a:t>
            </a:r>
            <a:r>
              <a:rPr lang="en-GB" sz="3600" b="1" dirty="0" err="1">
                <a:solidFill>
                  <a:srgbClr val="C00000"/>
                </a:solidFill>
              </a:rPr>
              <a:t>structurées</a:t>
            </a:r>
            <a:endParaRPr lang="en-GB" sz="3600" b="1" dirty="0">
              <a:solidFill>
                <a:srgbClr val="C00000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5A5F6FB-B377-C755-8342-E5F7EE74E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031361" cy="1861472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La </a:t>
            </a:r>
            <a:r>
              <a:rPr dirty="0" err="1"/>
              <a:t>majorité</a:t>
            </a:r>
            <a:r>
              <a:rPr dirty="0"/>
              <a:t> des données </a:t>
            </a:r>
            <a:r>
              <a:rPr dirty="0" err="1"/>
              <a:t>d’entreprise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non </a:t>
            </a:r>
            <a:r>
              <a:rPr dirty="0" err="1"/>
              <a:t>structurées</a:t>
            </a:r>
            <a:endParaRPr dirty="0"/>
          </a:p>
          <a:p>
            <a:pPr marL="0" indent="0">
              <a:buNone/>
            </a:pPr>
            <a:r>
              <a:rPr dirty="0"/>
              <a:t>• Emails, PDF, images, audio, </a:t>
            </a:r>
          </a:p>
          <a:p>
            <a:pPr marL="0" indent="0">
              <a:buNone/>
            </a:pPr>
            <a:r>
              <a:rPr dirty="0"/>
              <a:t>• Les </a:t>
            </a:r>
            <a:r>
              <a:rPr dirty="0" err="1"/>
              <a:t>informations</a:t>
            </a:r>
            <a:r>
              <a:rPr dirty="0"/>
              <a:t> les plus précieuses </a:t>
            </a:r>
            <a:r>
              <a:rPr dirty="0" err="1"/>
              <a:t>s’y</a:t>
            </a:r>
            <a:r>
              <a:rPr dirty="0"/>
              <a:t> </a:t>
            </a:r>
            <a:r>
              <a:rPr dirty="0" err="1"/>
              <a:t>trouvent</a:t>
            </a:r>
            <a:r>
              <a:rPr dirty="0"/>
              <a:t> </a:t>
            </a:r>
            <a:r>
              <a:rPr dirty="0" err="1"/>
              <a:t>souvent</a:t>
            </a:r>
            <a:endParaRPr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AA2016A-5D07-F1C3-2599-F9028FBB838A}"/>
              </a:ext>
            </a:extLst>
          </p:cNvPr>
          <p:cNvSpPr txBox="1"/>
          <p:nvPr/>
        </p:nvSpPr>
        <p:spPr>
          <a:xfrm>
            <a:off x="838200" y="3687097"/>
            <a:ext cx="1003136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sz="2800" dirty="0"/>
              <a:t>• Pas de schéma prédéfini</a:t>
            </a:r>
          </a:p>
          <a:p>
            <a:pPr marL="0" indent="0">
              <a:buNone/>
            </a:pPr>
            <a:r>
              <a:rPr lang="fr-FR" sz="2800" dirty="0"/>
              <a:t>• Données et formats hétérogènes (tableaux, images, texte)</a:t>
            </a:r>
          </a:p>
          <a:p>
            <a:pPr marL="0" indent="0">
              <a:buNone/>
            </a:pPr>
            <a:r>
              <a:rPr lang="fr-FR" sz="2800" dirty="0"/>
              <a:t>• Analyse manuelle impossible à l’échelle</a:t>
            </a:r>
          </a:p>
        </p:txBody>
      </p:sp>
    </p:spTree>
    <p:extLst>
      <p:ext uri="{BB962C8B-B14F-4D97-AF65-F5344CB8AC3E}">
        <p14:creationId xmlns:p14="http://schemas.microsoft.com/office/powerpoint/2010/main" val="3542794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04914-5C12-B4F7-8652-93EED213E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ZoneTexte 12">
            <a:extLst>
              <a:ext uri="{FF2B5EF4-FFF2-40B4-BE49-F238E27FC236}">
                <a16:creationId xmlns:a16="http://schemas.microsoft.com/office/drawing/2014/main" id="{E606FA04-8D21-E1FE-7D8C-A04A1CB47996}"/>
              </a:ext>
            </a:extLst>
          </p:cNvPr>
          <p:cNvSpPr txBox="1"/>
          <p:nvPr/>
        </p:nvSpPr>
        <p:spPr>
          <a:xfrm>
            <a:off x="551150" y="645023"/>
            <a:ext cx="107313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Transformer la donnée pour les </a:t>
            </a:r>
            <a:r>
              <a:rPr lang="en-GB" sz="3600" b="1" dirty="0" err="1">
                <a:solidFill>
                  <a:srgbClr val="C00000"/>
                </a:solidFill>
              </a:rPr>
              <a:t>modèles</a:t>
            </a:r>
            <a:r>
              <a:rPr lang="en-GB" sz="3600" b="1" dirty="0">
                <a:solidFill>
                  <a:srgbClr val="C00000"/>
                </a:solidFill>
              </a:rPr>
              <a:t> </a:t>
            </a:r>
            <a:r>
              <a:rPr lang="en-GB" sz="3600" b="1" dirty="0" err="1">
                <a:solidFill>
                  <a:srgbClr val="C00000"/>
                </a:solidFill>
              </a:rPr>
              <a:t>d’IA</a:t>
            </a:r>
            <a:endParaRPr lang="en-GB" sz="3600" b="1" dirty="0">
              <a:solidFill>
                <a:srgbClr val="C0000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30BD835-0BA0-DB43-A429-47A480F84D7F}"/>
              </a:ext>
            </a:extLst>
          </p:cNvPr>
          <p:cNvSpPr txBox="1">
            <a:spLocks/>
          </p:cNvSpPr>
          <p:nvPr/>
        </p:nvSpPr>
        <p:spPr>
          <a:xfrm>
            <a:off x="551150" y="1291354"/>
            <a:ext cx="3637391" cy="469467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r>
              <a:rPr lang="fr-FR" sz="2000" dirty="0"/>
              <a:t>Besoin de transformer les données dans un format standard adapté pour les modèles d’IA</a:t>
            </a:r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r>
              <a:rPr lang="fr-FR" sz="2000" b="1" dirty="0" err="1"/>
              <a:t>Docling</a:t>
            </a:r>
            <a:r>
              <a:rPr lang="fr-FR" sz="2000" dirty="0"/>
              <a:t> : Un </a:t>
            </a:r>
            <a:r>
              <a:rPr lang="fr-FR" sz="2000" dirty="0" err="1"/>
              <a:t>framework</a:t>
            </a:r>
            <a:r>
              <a:rPr lang="fr-FR" sz="2000" dirty="0"/>
              <a:t> combinant plusieurs technos pour convertir tout document en </a:t>
            </a:r>
            <a:r>
              <a:rPr lang="fr-FR" sz="2000" b="1" u="sng" dirty="0">
                <a:solidFill>
                  <a:srgbClr val="FF0000"/>
                </a:solidFill>
              </a:rPr>
              <a:t>texte exploitable par les modèles d’IA (IA classique ou IA </a:t>
            </a:r>
            <a:r>
              <a:rPr lang="fr-FR" sz="2000" b="1" u="sng" dirty="0" err="1">
                <a:solidFill>
                  <a:srgbClr val="FF0000"/>
                </a:solidFill>
              </a:rPr>
              <a:t>generative</a:t>
            </a:r>
            <a:r>
              <a:rPr lang="fr-FR" sz="2000" b="1" u="sng" dirty="0">
                <a:solidFill>
                  <a:srgbClr val="FF0000"/>
                </a:solidFill>
              </a:rPr>
              <a:t> LLM)</a:t>
            </a:r>
          </a:p>
          <a:p>
            <a:pPr marL="0" indent="0">
              <a:buNone/>
            </a:pPr>
            <a:endParaRPr lang="fr-FR" sz="2000" b="1" u="sng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fr-FR" sz="2000" dirty="0">
                <a:hlinkClick r:id="rId2"/>
              </a:rPr>
              <a:t>https://github.com/docling-project/docling</a:t>
            </a:r>
            <a:endParaRPr lang="fr-FR" sz="2000" dirty="0"/>
          </a:p>
          <a:p>
            <a:pPr marL="0" indent="0">
              <a:buNone/>
            </a:pPr>
            <a:endParaRPr lang="fr-FR" sz="20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F3FD209-2E16-92D5-F3CE-3F7AE576F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014" y="1530363"/>
            <a:ext cx="7192836" cy="507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205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OCR pour documents </a:t>
            </a:r>
            <a:r>
              <a:rPr dirty="0" err="1"/>
              <a:t>scannés</a:t>
            </a:r>
            <a:r>
              <a:rPr lang="fr-FR" dirty="0"/>
              <a:t> et Computer Vision pour détecter la structure des </a:t>
            </a:r>
            <a:r>
              <a:rPr lang="fr-FR" dirty="0" err="1"/>
              <a:t>pdfs</a:t>
            </a:r>
            <a:endParaRPr dirty="0"/>
          </a:p>
          <a:p>
            <a:pPr marL="0" indent="0">
              <a:buNone/>
            </a:pPr>
            <a:r>
              <a:rPr dirty="0"/>
              <a:t>• NLP pour le </a:t>
            </a:r>
            <a:r>
              <a:rPr dirty="0" err="1"/>
              <a:t>texte</a:t>
            </a:r>
            <a:r>
              <a:rPr lang="fr-FR" dirty="0"/>
              <a:t> (extraction champs </a:t>
            </a:r>
            <a:r>
              <a:rPr lang="fr-FR" dirty="0" err="1"/>
              <a:t>specifiques</a:t>
            </a:r>
            <a:r>
              <a:rPr lang="fr-FR" dirty="0"/>
              <a:t>, catégorisation)</a:t>
            </a:r>
            <a:endParaRPr dirty="0"/>
          </a:p>
          <a:p>
            <a:pPr marL="0" indent="0">
              <a:buNone/>
            </a:pPr>
            <a:r>
              <a:rPr dirty="0"/>
              <a:t>• Speech-to-Text pour </a:t>
            </a:r>
            <a:r>
              <a:rPr lang="fr-FR" dirty="0"/>
              <a:t>transcrire l’audio en texte (analyse d’appels clients)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lang="fr-FR" dirty="0"/>
              <a:t>Une fois la donnée structurée, nous pouvons appliquer différentes des méthodes classiques de Machine Learning ou des méthodes avancées et plus récentes de type LLM &amp; RAG </a:t>
            </a:r>
            <a:endParaRPr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897B28B-81DD-D7BC-4D24-B2F4AD8D6678}"/>
              </a:ext>
            </a:extLst>
          </p:cNvPr>
          <p:cNvSpPr txBox="1"/>
          <p:nvPr/>
        </p:nvSpPr>
        <p:spPr>
          <a:xfrm>
            <a:off x="551150" y="645023"/>
            <a:ext cx="107313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 err="1">
                <a:solidFill>
                  <a:srgbClr val="C00000"/>
                </a:solidFill>
              </a:rPr>
              <a:t>Principales</a:t>
            </a:r>
            <a:r>
              <a:rPr lang="en-GB" sz="3600" b="1" dirty="0">
                <a:solidFill>
                  <a:srgbClr val="C00000"/>
                </a:solidFill>
              </a:rPr>
              <a:t> techniques </a:t>
            </a:r>
            <a:r>
              <a:rPr lang="en-GB" sz="3600" b="1" dirty="0" err="1">
                <a:solidFill>
                  <a:srgbClr val="C00000"/>
                </a:solidFill>
              </a:rPr>
              <a:t>d’analyse</a:t>
            </a:r>
            <a:endParaRPr lang="en-GB" sz="36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LLM &amp; RAG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5542" y="1852921"/>
            <a:ext cx="4662949" cy="119999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sz="2000" dirty="0"/>
              <a:t>• RAG = Recherche + </a:t>
            </a:r>
            <a:r>
              <a:rPr sz="2000" dirty="0" err="1"/>
              <a:t>Génération</a:t>
            </a:r>
            <a:endParaRPr sz="2000" dirty="0"/>
          </a:p>
          <a:p>
            <a:pPr marL="0" indent="0">
              <a:buNone/>
            </a:pPr>
            <a:r>
              <a:rPr sz="2000" dirty="0"/>
              <a:t>• </a:t>
            </a:r>
            <a:r>
              <a:rPr sz="2000" dirty="0" err="1"/>
              <a:t>Réponses</a:t>
            </a:r>
            <a:r>
              <a:rPr sz="2000" dirty="0"/>
              <a:t> </a:t>
            </a:r>
            <a:r>
              <a:rPr sz="2000" dirty="0" err="1"/>
              <a:t>basées</a:t>
            </a:r>
            <a:r>
              <a:rPr sz="2000" dirty="0"/>
              <a:t> sur les documents + citations</a:t>
            </a:r>
          </a:p>
          <a:p>
            <a:pPr marL="0" indent="0">
              <a:buNone/>
            </a:pPr>
            <a:r>
              <a:rPr sz="2000" dirty="0"/>
              <a:t>• </a:t>
            </a:r>
            <a:r>
              <a:rPr sz="2000" dirty="0" err="1"/>
              <a:t>Réduction</a:t>
            </a:r>
            <a:r>
              <a:rPr sz="2000" dirty="0"/>
              <a:t> des hallucinations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37CCAFE-AEA8-7843-88EC-CA7F606F2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17" y="1325563"/>
            <a:ext cx="6311691" cy="5167312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7DED142-F0A1-DFF2-36DF-EA048854EA68}"/>
              </a:ext>
            </a:extLst>
          </p:cNvPr>
          <p:cNvSpPr txBox="1">
            <a:spLocks/>
          </p:cNvSpPr>
          <p:nvPr/>
        </p:nvSpPr>
        <p:spPr>
          <a:xfrm>
            <a:off x="6993193" y="4276573"/>
            <a:ext cx="4662949" cy="11999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2000" dirty="0"/>
              <a:t>• Possible d’utiliser des modèles Open Source en local ou des modèles (API) </a:t>
            </a:r>
            <a:r>
              <a:rPr lang="fr-FR" sz="2000" dirty="0" err="1"/>
              <a:t>proprietaires</a:t>
            </a:r>
            <a:r>
              <a:rPr lang="fr-FR" sz="2000" dirty="0"/>
              <a:t> (Open AI)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pratiques en Python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Preprocessing</a:t>
            </a:r>
            <a:r>
              <a:rPr lang="fr-FR" dirty="0"/>
              <a:t> de documents </a:t>
            </a:r>
            <a:r>
              <a:rPr lang="fr-FR" dirty="0" err="1"/>
              <a:t>pdf</a:t>
            </a:r>
            <a:endParaRPr lang="fr-FR" dirty="0"/>
          </a:p>
          <a:p>
            <a:r>
              <a:rPr lang="fr-FR" dirty="0" err="1"/>
              <a:t>Preprocessing</a:t>
            </a:r>
            <a:r>
              <a:rPr lang="fr-FR" dirty="0"/>
              <a:t> de fichiers audio mp3</a:t>
            </a:r>
            <a:endParaRPr dirty="0"/>
          </a:p>
          <a:p>
            <a:r>
              <a:rPr lang="fr-FR" dirty="0"/>
              <a:t>Applications</a:t>
            </a:r>
          </a:p>
          <a:p>
            <a:pPr lvl="1"/>
            <a:r>
              <a:rPr lang="fr-FR" dirty="0"/>
              <a:t>RAG : questions sur des conditions </a:t>
            </a:r>
            <a:r>
              <a:rPr lang="fr-FR" dirty="0" err="1"/>
              <a:t>generales</a:t>
            </a:r>
            <a:endParaRPr lang="fr-FR" dirty="0"/>
          </a:p>
          <a:p>
            <a:pPr lvl="1"/>
            <a:r>
              <a:rPr lang="fr-FR" dirty="0"/>
              <a:t>Analyse de verbatims clients </a:t>
            </a:r>
            <a:r>
              <a:rPr lang="fr-FR" dirty="0" err="1"/>
              <a:t>pr</a:t>
            </a:r>
            <a:r>
              <a:rPr lang="fr-FR" dirty="0"/>
              <a:t> détecter les thèmes principaux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2651</TotalTime>
  <Words>269</Words>
  <Application>Microsoft Macintosh PowerPoint</Application>
  <PresentationFormat>Grand écran</PresentationFormat>
  <Paragraphs>36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Thème Office</vt:lpstr>
      <vt:lpstr>L’IA pour analyser les données non structurées à l’ère de l’IA générative</vt:lpstr>
      <vt:lpstr>Présentation PowerPoint</vt:lpstr>
      <vt:lpstr>Présentation PowerPoint</vt:lpstr>
      <vt:lpstr>Présentation PowerPoint</vt:lpstr>
      <vt:lpstr>Présentation PowerPoint</vt:lpstr>
      <vt:lpstr>LLM &amp; RAG </vt:lpstr>
      <vt:lpstr>Exemple pratiques en 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Iokanaan BELFIS SIMON</dc:creator>
  <cp:lastModifiedBy>Kent Aquer</cp:lastModifiedBy>
  <cp:revision>37</cp:revision>
  <cp:lastPrinted>2024-11-06T16:37:10Z</cp:lastPrinted>
  <dcterms:created xsi:type="dcterms:W3CDTF">2024-11-05T12:21:58Z</dcterms:created>
  <dcterms:modified xsi:type="dcterms:W3CDTF">2026-03-16T20:21:57Z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f1469a-2c2a-4aee-b92b-090d4c5468ff_Enabled">
    <vt:lpwstr>true</vt:lpwstr>
  </property>
  <property fmtid="{D5CDD505-2E9C-101B-9397-08002B2CF9AE}" pid="3" name="MSIP_Label_38f1469a-2c2a-4aee-b92b-090d4c5468ff_SetDate">
    <vt:lpwstr>2024-11-08T07:19:42Z</vt:lpwstr>
  </property>
  <property fmtid="{D5CDD505-2E9C-101B-9397-08002B2CF9AE}" pid="4" name="MSIP_Label_38f1469a-2c2a-4aee-b92b-090d4c5468ff_Method">
    <vt:lpwstr>Standard</vt:lpwstr>
  </property>
  <property fmtid="{D5CDD505-2E9C-101B-9397-08002B2CF9AE}" pid="5" name="MSIP_Label_38f1469a-2c2a-4aee-b92b-090d4c5468ff_Name">
    <vt:lpwstr>Confidential - Unmarked</vt:lpwstr>
  </property>
  <property fmtid="{D5CDD505-2E9C-101B-9397-08002B2CF9AE}" pid="6" name="MSIP_Label_38f1469a-2c2a-4aee-b92b-090d4c5468ff_SiteId">
    <vt:lpwstr>2a6e6092-73e4-4752-b1a5-477a17f5056d</vt:lpwstr>
  </property>
  <property fmtid="{D5CDD505-2E9C-101B-9397-08002B2CF9AE}" pid="7" name="MSIP_Label_38f1469a-2c2a-4aee-b92b-090d4c5468ff_ActionId">
    <vt:lpwstr>3cd4218f-cbef-4c31-991f-268d11268d39</vt:lpwstr>
  </property>
  <property fmtid="{D5CDD505-2E9C-101B-9397-08002B2CF9AE}" pid="8" name="MSIP_Label_38f1469a-2c2a-4aee-b92b-090d4c5468ff_ContentBits">
    <vt:lpwstr>0</vt:lpwstr>
  </property>
</Properties>
</file>